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  <p:sldId id="262" r:id="rId5"/>
    <p:sldId id="263" r:id="rId6"/>
    <p:sldId id="274" r:id="rId7"/>
    <p:sldId id="264" r:id="rId8"/>
    <p:sldId id="266" r:id="rId9"/>
    <p:sldId id="275" r:id="rId10"/>
    <p:sldId id="267" r:id="rId11"/>
    <p:sldId id="268" r:id="rId12"/>
    <p:sldId id="273" r:id="rId13"/>
    <p:sldId id="276" r:id="rId14"/>
    <p:sldId id="269" r:id="rId15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2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2FD"/>
    <a:srgbClr val="FDFEFE"/>
    <a:srgbClr val="EEF2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099"/>
        <p:guide pos="27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34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各位老师、同学大家好。我们小组汇报的题目是"二维理想磁流体力学模拟——</a:t>
            </a:r>
            <a:r>
              <a:rPr lang="en-US" altLang="zh-CN" dirty="0"/>
              <a:t>Orszag-Tang </a:t>
            </a:r>
            <a:r>
              <a:rPr lang="zh-CN" altLang="en-US" dirty="0"/>
              <a:t>涡旋的约束输运求解"。磁流体力学——简称 </a:t>
            </a:r>
            <a:r>
              <a:rPr lang="en-US" altLang="zh-CN" dirty="0"/>
              <a:t>MHD——</a:t>
            </a:r>
            <a:r>
              <a:rPr lang="zh-CN" altLang="en-US" dirty="0"/>
              <a:t>描述的是导电流体与磁场相互耦合的复杂动力学过程。我们将围绕一份 </a:t>
            </a:r>
            <a:r>
              <a:rPr lang="en-US" altLang="zh-CN" dirty="0"/>
              <a:t>Python </a:t>
            </a:r>
            <a:r>
              <a:rPr lang="zh-CN" altLang="en-US" dirty="0"/>
              <a:t>代码，讲解如何用有限体积法和约束输运格式来求解经典的 </a:t>
            </a:r>
            <a:r>
              <a:rPr lang="en-US" altLang="zh-CN" dirty="0"/>
              <a:t>Orszag-Tang </a:t>
            </a:r>
            <a:r>
              <a:rPr lang="zh-CN" altLang="en-US" dirty="0"/>
              <a:t>涡旋问题，并分析了其从平滑初始场到非线性湍流的完整演化。这份代码由 </a:t>
            </a:r>
            <a:r>
              <a:rPr lang="en-US" altLang="zh-CN" dirty="0"/>
              <a:t>Philip Mocz </a:t>
            </a:r>
            <a:r>
              <a:rPr lang="zh-CN" altLang="en-US" dirty="0"/>
              <a:t>在 2023 年发布，全部用 </a:t>
            </a:r>
            <a:r>
              <a:rPr lang="en-US" altLang="zh-CN" dirty="0"/>
              <a:t>Python </a:t>
            </a:r>
            <a:r>
              <a:rPr lang="zh-CN" altLang="en-US" dirty="0"/>
              <a:t>和 </a:t>
            </a:r>
            <a:r>
              <a:rPr lang="en-US" altLang="zh-CN" dirty="0"/>
              <a:t>NumPy </a:t>
            </a:r>
            <a:r>
              <a:rPr lang="zh-CN" altLang="en-US" dirty="0"/>
              <a:t>实现，非常适合用来理解 </a:t>
            </a:r>
            <a:r>
              <a:rPr lang="en-US" altLang="zh-CN" dirty="0"/>
              <a:t>MHD </a:t>
            </a:r>
            <a:r>
              <a:rPr lang="zh-CN" altLang="en-US" dirty="0"/>
              <a:t>数值方法的核心思想。</a:t>
            </a:r>
            <a:endParaRPr lang="zh-CN" altLang="en-US" dirty="0"/>
          </a:p>
          <a:p>
            <a:r>
              <a:rPr lang="zh-CN" altLang="en-US" dirty="0"/>
              <a:t>今天的报告分为</a:t>
            </a:r>
            <a:r>
              <a:rPr lang="zh-CN" altLang="en-US" dirty="0"/>
              <a:t>几个部分。我们先回顾 </a:t>
            </a:r>
            <a:r>
              <a:rPr lang="en-US" altLang="zh-CN" dirty="0"/>
              <a:t>MHD </a:t>
            </a:r>
            <a:r>
              <a:rPr lang="zh-CN" altLang="en-US" dirty="0"/>
              <a:t>方程组和 </a:t>
            </a:r>
            <a:r>
              <a:rPr lang="en-US" altLang="zh-CN" dirty="0"/>
              <a:t>Orszag-Tang </a:t>
            </a:r>
            <a:r>
              <a:rPr lang="zh-CN" altLang="en-US" dirty="0"/>
              <a:t>这个经典算例，然后引出 </a:t>
            </a:r>
            <a:r>
              <a:rPr lang="en-US" altLang="zh-CN" dirty="0"/>
              <a:t>MHD </a:t>
            </a:r>
            <a:r>
              <a:rPr lang="zh-CN" altLang="en-US" dirty="0"/>
              <a:t>模拟中最头疼的问题——如何保证磁场无散度。接着，我们会介绍代码算法</a:t>
            </a:r>
            <a:r>
              <a:rPr lang="zh-CN" altLang="en-US" dirty="0"/>
              <a:t>流程。最后展示模拟结果并做总结。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首先，为什么 </a:t>
            </a:r>
            <a:r>
              <a:rPr lang="en-US" altLang="zh-CN"/>
              <a:t>MHD </a:t>
            </a:r>
            <a:r>
              <a:rPr lang="zh-CN" altLang="en-US"/>
              <a:t>很重要？等离子体广泛存在于我们的宇宙和实验室中——从太阳风吹拂地球磁层，到星际介质的分子云，再到聚变等离子体——它们都是导电流体，都受磁场支配。</a:t>
            </a:r>
            <a:endParaRPr lang="en-US" altLang="zh-CN"/>
          </a:p>
          <a:p>
            <a:r>
              <a:rPr lang="en-US" altLang="zh-CN"/>
              <a:t>MHD </a:t>
            </a:r>
            <a:r>
              <a:rPr lang="zh-CN" altLang="en-US"/>
              <a:t>的核心是双向耦合：流体运动会拉伸、</a:t>
            </a:r>
            <a:r>
              <a:rPr lang="zh-CN" altLang="en-US"/>
              <a:t>压缩和扭曲磁场，反过来磁场通过磁压和磁张力影响流体的运动。这种耦合天然是非线性的——一个简单的初始扰动可以在非线性作用下演化为复杂的激波、涡旋和湍流结构。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在开始模拟之前，首先看一下模拟的物理</a:t>
            </a:r>
            <a:r>
              <a:rPr lang="zh-CN" altLang="en-US"/>
              <a:t>依据。这是理想 </a:t>
            </a:r>
            <a:r>
              <a:rPr lang="en-US" altLang="zh-CN"/>
              <a:t>MHD </a:t>
            </a:r>
            <a:r>
              <a:rPr lang="zh-CN" altLang="en-US"/>
              <a:t>方程组的三维形式。四个方程构成了核心：质量守恒、动量守恒、能量守恒，再加上描述磁场随流体运动而演化的感应方程。</a:t>
            </a:r>
            <a:endParaRPr lang="en-US" altLang="zh-CN"/>
          </a:p>
          <a:p>
            <a:r>
              <a:rPr lang="zh-CN" altLang="en-US"/>
              <a:t>等式的右边非常简单——全为零，说明这是无耗散的理想情况，忽略粘性和电阻。磁场对动量的影响体现在两个地方：磁压项贡献各向同性的压力，而</a:t>
            </a:r>
            <a:r>
              <a:rPr lang="en-US" altLang="zh-CN"/>
              <a:t>BB</a:t>
            </a:r>
            <a:r>
              <a:rPr lang="zh-CN" altLang="en-US"/>
              <a:t>项贡献磁张力。感应方程是 </a:t>
            </a:r>
            <a:r>
              <a:rPr lang="en-US" altLang="zh-CN"/>
              <a:t>MHD </a:t>
            </a:r>
            <a:r>
              <a:rPr lang="zh-CN" altLang="en-US"/>
              <a:t>区别于普通流体力学的地方——它描述的是"磁场冻结"效应，即磁力线随着流体一起运动。</a:t>
            </a:r>
            <a:endParaRPr lang="en-US" altLang="zh-CN"/>
          </a:p>
          <a:p>
            <a:r>
              <a:rPr lang="zh-CN" altLang="en-US"/>
              <a:t>此外还有一个约束条件</a:t>
            </a:r>
            <a:r>
              <a:rPr lang="en-US" altLang="zh-CN"/>
              <a:t>，</a:t>
            </a:r>
            <a:r>
              <a:rPr lang="zh-CN" altLang="en-US"/>
              <a:t>因为它不是演化方程，而是一个初始条件，后面我们会看到数值上如何保证这一点。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在二维情况下，我们假设所有物理量在 </a:t>
            </a:r>
            <a:r>
              <a:rPr lang="en-US" altLang="zh-CN"/>
              <a:t>z </a:t>
            </a:r>
            <a:r>
              <a:rPr lang="zh-CN" altLang="en-US"/>
              <a:t>方向是均匀的，电流和电场都只有 </a:t>
            </a:r>
            <a:r>
              <a:rPr lang="en-US" altLang="zh-CN"/>
              <a:t>z </a:t>
            </a:r>
            <a:r>
              <a:rPr lang="zh-CN" altLang="en-US"/>
              <a:t>分量。这样我们只需要求解六个场：密度、两个速度分量、总能量、两个磁场分量。</a:t>
            </a:r>
            <a:endParaRPr lang="en-US" altLang="zh-CN"/>
          </a:p>
          <a:p>
            <a:r>
              <a:rPr lang="zh-CN" altLang="en-US"/>
              <a:t>通量函数是 </a:t>
            </a:r>
            <a:r>
              <a:rPr lang="en-US" altLang="zh-CN"/>
              <a:t>MHD </a:t>
            </a:r>
            <a:r>
              <a:rPr lang="zh-CN" altLang="en-US"/>
              <a:t>数值求解的核心。</a:t>
            </a:r>
            <a:r>
              <a:rPr lang="en-US" altLang="zh-CN"/>
              <a:t>x </a:t>
            </a:r>
            <a:r>
              <a:rPr lang="zh-CN" altLang="en-US"/>
              <a:t>方向通量 </a:t>
            </a:r>
            <a:r>
              <a:rPr lang="en-US" altLang="zh-CN"/>
              <a:t>F </a:t>
            </a:r>
            <a:r>
              <a:rPr lang="zh-CN" altLang="en-US"/>
              <a:t>的每一个分量都有清晰的物理含义：第一行是质量流，第二、三行是动量流，第四行是能量流，最后一行是磁场的输运——$</a:t>
            </a:r>
            <a:r>
              <a:rPr lang="en-US" altLang="zh-CN"/>
              <a:t>v_x B_y - v_y B_x$ </a:t>
            </a:r>
            <a:r>
              <a:rPr lang="zh-CN" altLang="en-US"/>
              <a:t>正是电场 </a:t>
            </a:r>
            <a:r>
              <a:rPr lang="en-US" altLang="zh-CN"/>
              <a:t>Ez </a:t>
            </a:r>
            <a:r>
              <a:rPr lang="zh-CN" altLang="en-US"/>
              <a:t>的负值。</a:t>
            </a:r>
            <a:endParaRPr lang="en-US" altLang="zh-CN"/>
          </a:p>
          <a:p>
            <a:r>
              <a:rPr lang="zh-CN" altLang="en-US"/>
              <a:t>这个结构决定了下文的数值格式设计。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这张图展示了 </a:t>
            </a:r>
            <a:r>
              <a:rPr lang="en-US" altLang="zh-CN"/>
              <a:t>MHD </a:t>
            </a:r>
            <a:r>
              <a:rPr lang="zh-CN" altLang="en-US"/>
              <a:t>的核心反馈回路。流体运动会拉伸和压缩磁力线，把能量从动能转化为磁能；磁场反过来通过磁压和磁张力驱动流体运动。这个双向耦合是 </a:t>
            </a:r>
            <a:r>
              <a:rPr lang="en-US" altLang="zh-CN"/>
              <a:t>MHD </a:t>
            </a:r>
            <a:r>
              <a:rPr lang="zh-CN" altLang="en-US"/>
              <a:t>非线性的根源。</a:t>
            </a:r>
            <a:endParaRPr lang="en-US" altLang="zh-CN"/>
          </a:p>
          <a:p>
            <a:r>
              <a:rPr lang="zh-CN" altLang="en-US"/>
              <a:t>但在做数值模拟时有一个巨大的挑战：如何保证磁场的散度始终为零？如果不管这个约束，模拟中会出现虚假的磁单极子，最终导致数值</a:t>
            </a:r>
            <a:r>
              <a:rPr lang="zh-CN" altLang="en-US"/>
              <a:t>模拟崩溃。</a:t>
            </a:r>
            <a:endParaRPr lang="zh-CN" altLang="en-US"/>
          </a:p>
          <a:p>
            <a:r>
              <a:rPr lang="zh-CN" altLang="en-US"/>
              <a:t>在这里我们采用了</a:t>
            </a:r>
            <a:r>
              <a:rPr lang="en-US" altLang="zh-CN"/>
              <a:t>Constrained-Transport</a:t>
            </a:r>
            <a:r>
              <a:rPr lang="zh-CN" altLang="en-US"/>
              <a:t>方法，它从算法设计层面保证了每一步更新都不会产生散度。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我们来看数值方法的总览。</a:t>
            </a:r>
            <a:endParaRPr lang="zh-CN" altLang="en-US"/>
          </a:p>
          <a:p>
            <a:r>
              <a:rPr lang="zh-CN" altLang="en-US"/>
              <a:t>代码采用有限体积法，把计算域分成 128 乘 128 的均匀网格。每个格子里存的是物理量的单元平均值。更新方式非常直观：每个单元的值变化，等于从左边、右边、上面、下面流入的通量总和。数学上就写成了这样的半离散形式：时间导数等于四个方向通量差的负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每个时间步包含</a:t>
            </a:r>
            <a:r>
              <a:rPr lang="zh-CN" altLang="en-US"/>
              <a:t>七个步骤，构成一个完整的二阶精度有限体积格式。</a:t>
            </a:r>
            <a:endParaRPr lang="en-US" altLang="zh-CN"/>
          </a:p>
          <a:p>
            <a:r>
              <a:rPr lang="zh-CN" altLang="en-US"/>
              <a:t>首先从守恒变量求出原始变量，然后根据 </a:t>
            </a:r>
            <a:r>
              <a:rPr lang="en-US" altLang="zh-CN"/>
              <a:t>CFL </a:t>
            </a:r>
            <a:r>
              <a:rPr lang="zh-CN" altLang="en-US"/>
              <a:t>条件确定时间步长。接着计算所有物理量的梯度，并用斜率限制器保证单调性。然后做半步时间外推——这是二阶精度的关键。之后将物理量从单元中心外推到面心。</a:t>
            </a:r>
            <a:endParaRPr lang="en-US" altLang="zh-CN"/>
          </a:p>
          <a:p>
            <a:r>
              <a:rPr lang="en-US" altLang="zh-CN"/>
              <a:t>Rusanov </a:t>
            </a:r>
            <a:r>
              <a:rPr lang="zh-CN" altLang="en-US"/>
              <a:t>求解器在每一个界面上计算通量。通量用来更新守恒变量，同时磁场的通量单独输入给约束输运模块，精确保持磁场的散度为</a:t>
            </a:r>
            <a:r>
              <a:rPr lang="zh-CN" altLang="en-US"/>
              <a:t>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约束输运的核心是交错网格。代码用了三套网格位置：单元中心存密度、速度这些流体量；单元面心存磁场；单元节点存磁矢势。这样做可以从算法上保证无散度约束。</a:t>
            </a:r>
            <a:endParaRPr lang="en-US" altLang="zh-CN"/>
          </a:p>
          <a:p>
            <a:r>
              <a:rPr lang="zh-CN" altLang="en-US"/>
              <a:t>第一步，从节点的磁矢势 </a:t>
            </a:r>
            <a:r>
              <a:rPr lang="en-US" altLang="zh-CN"/>
              <a:t>Az </a:t>
            </a:r>
            <a:r>
              <a:rPr lang="zh-CN" altLang="en-US"/>
              <a:t>通过离散旋度算出面心磁场。注意这里用的是向后差分，一阶精度就够，因为交错网格本身会补偿精度。</a:t>
            </a:r>
            <a:endParaRPr lang="en-US" altLang="zh-CN"/>
          </a:p>
          <a:p>
            <a:r>
              <a:rPr lang="zh-CN" altLang="en-US"/>
              <a:t>第二步，每个时间步用 </a:t>
            </a:r>
            <a:r>
              <a:rPr lang="en-US" altLang="zh-CN"/>
              <a:t>Riemann </a:t>
            </a:r>
            <a:r>
              <a:rPr lang="zh-CN" altLang="en-US"/>
              <a:t>求解器算出四个面上的电场通量，然后取平均得到节点上的电场 </a:t>
            </a:r>
            <a:r>
              <a:rPr lang="en-US" altLang="zh-CN"/>
              <a:t>Ez。</a:t>
            </a:r>
            <a:r>
              <a:rPr lang="zh-CN" altLang="en-US"/>
              <a:t>这步平均是关键——它把四个面的贡献都考虑进来，保证了离散层面的旋度和散度算子互为伴随。</a:t>
            </a:r>
            <a:endParaRPr lang="en-US" altLang="zh-CN"/>
          </a:p>
          <a:p>
            <a:r>
              <a:rPr lang="zh-CN" altLang="en-US"/>
              <a:t>第三步，对节点电场取旋度。这个旋度算出来就是面心磁场的修正量。因为修正量是一个旋度，它的散度恒为零，所以面心磁场的散度永远不会变——初始是零，就一直是零。这就是为什么叫"约束"输运：你把散度约束住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Orszag-Tang </a:t>
            </a:r>
            <a:r>
              <a:rPr lang="zh-CN" altLang="en-US"/>
              <a:t>涡旋是 1979 年提出的经典 </a:t>
            </a:r>
            <a:r>
              <a:rPr lang="en-US" altLang="zh-CN"/>
              <a:t>MHD </a:t>
            </a:r>
            <a:r>
              <a:rPr lang="zh-CN" altLang="en-US"/>
              <a:t>测试问题。它的设计很巧妙：初始密度和气压是均匀的，速度场是一个大尺度正弦涡旋，磁场由两种模式叠加构成——</a:t>
            </a:r>
            <a:r>
              <a:rPr lang="en-US" altLang="zh-CN"/>
              <a:t>x </a:t>
            </a:r>
            <a:r>
              <a:rPr lang="zh-CN" altLang="en-US"/>
              <a:t>方向一个波数 4 的快速振荡，</a:t>
            </a:r>
            <a:r>
              <a:rPr lang="en-US" altLang="zh-CN"/>
              <a:t>y </a:t>
            </a:r>
            <a:r>
              <a:rPr lang="zh-CN" altLang="en-US"/>
              <a:t>方向一个波数 2 的慢速振荡。</a:t>
            </a:r>
            <a:endParaRPr lang="en-US" altLang="zh-CN"/>
          </a:p>
          <a:p>
            <a:r>
              <a:rPr lang="zh-CN" altLang="en-US"/>
              <a:t>这样设置会产生非常丰富的物理现象：激波、磁重联、湍流级串——是检验一个 </a:t>
            </a:r>
            <a:r>
              <a:rPr lang="en-US" altLang="zh-CN"/>
              <a:t>MHD </a:t>
            </a:r>
            <a:r>
              <a:rPr lang="zh-CN" altLang="en-US"/>
              <a:t>代码鲁棒性和精度的标准考题。</a:t>
            </a:r>
            <a:endParaRPr lang="zh-CN" altLang="en-US"/>
          </a:p>
          <a:p>
            <a:r>
              <a:rPr lang="zh-CN" altLang="en-US"/>
              <a:t>我们在 $128 \</a:t>
            </a:r>
            <a:r>
              <a:rPr lang="en-US" altLang="zh-CN"/>
              <a:t>times 128$ </a:t>
            </a:r>
            <a:r>
              <a:rPr lang="zh-CN" altLang="en-US"/>
              <a:t>的网格上运算，使用 </a:t>
            </a:r>
            <a:r>
              <a:rPr lang="en-US" altLang="zh-CN"/>
              <a:t>CFL </a:t>
            </a:r>
            <a:r>
              <a:rPr lang="zh-CN" altLang="en-US"/>
              <a:t>数 0.4，模拟到 $</a:t>
            </a:r>
            <a:r>
              <a:rPr lang="en-US" altLang="zh-CN"/>
              <a:t>t=0.5$，</a:t>
            </a:r>
            <a:r>
              <a:rPr lang="zh-CN" altLang="en-US"/>
              <a:t>约 5000 个时间步。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来看模拟结果。左上角是初始均匀密度场。到 </a:t>
            </a:r>
            <a:r>
              <a:rPr lang="en-US" altLang="zh-CN">
                <a:sym typeface="+mn-ea"/>
              </a:rPr>
              <a:t>t=0.1 </a:t>
            </a:r>
            <a:r>
              <a:rPr lang="zh-CN" altLang="en-US">
                <a:sym typeface="+mn-ea"/>
              </a:rPr>
              <a:t>时，涡旋已经开始扭曲磁场，密度场上出现了波纹状的调制。</a:t>
            </a:r>
            <a:r>
              <a:rPr lang="en-US" altLang="zh-CN">
                <a:sym typeface="+mn-ea"/>
              </a:rPr>
              <a:t>t=0.2 </a:t>
            </a:r>
            <a:r>
              <a:rPr lang="zh-CN" altLang="en-US">
                <a:sym typeface="+mn-ea"/>
              </a:rPr>
              <a:t>时激波已经形成。</a:t>
            </a:r>
            <a:endParaRPr lang="en-US" altLang="zh-CN"/>
          </a:p>
          <a:p>
            <a:r>
              <a:rPr lang="zh-CN" altLang="en-US">
                <a:sym typeface="+mn-ea"/>
              </a:rPr>
              <a:t>到 </a:t>
            </a:r>
            <a:r>
              <a:rPr lang="en-US" altLang="zh-CN">
                <a:sym typeface="+mn-ea"/>
              </a:rPr>
              <a:t>t=0.5 </a:t>
            </a:r>
            <a:r>
              <a:rPr lang="zh-CN" altLang="en-US">
                <a:sym typeface="+mn-ea"/>
              </a:rPr>
              <a:t>时，系统进入了充分发展的湍流状态。密度的空间结构非常丰富，从小尺度的条带到较大尺度的激波面相互交织。这正是 </a:t>
            </a:r>
            <a:r>
              <a:rPr lang="en-US" altLang="zh-CN">
                <a:sym typeface="+mn-ea"/>
              </a:rPr>
              <a:t>Orszag-Tang </a:t>
            </a:r>
            <a:r>
              <a:rPr lang="zh-CN" altLang="en-US">
                <a:sym typeface="+mn-ea"/>
              </a:rPr>
              <a:t>涡旋的典型特征。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来看模拟结果。左上角是初始均匀密度场。到 </a:t>
            </a:r>
            <a:r>
              <a:rPr lang="en-US" altLang="zh-CN"/>
              <a:t>t=0.1 </a:t>
            </a:r>
            <a:r>
              <a:rPr lang="zh-CN" altLang="en-US"/>
              <a:t>时，涡旋已经开始扭曲磁场，密度场上出现了波纹状的调制。</a:t>
            </a:r>
            <a:r>
              <a:rPr lang="en-US" altLang="zh-CN"/>
              <a:t>t=0.2 </a:t>
            </a:r>
            <a:r>
              <a:rPr lang="zh-CN" altLang="en-US"/>
              <a:t>时激波已经形成。</a:t>
            </a:r>
            <a:endParaRPr lang="en-US" altLang="zh-CN"/>
          </a:p>
          <a:p>
            <a:r>
              <a:rPr lang="zh-CN" altLang="en-US"/>
              <a:t>到 </a:t>
            </a:r>
            <a:r>
              <a:rPr lang="en-US" altLang="zh-CN"/>
              <a:t>t=0.5 </a:t>
            </a:r>
            <a:r>
              <a:rPr lang="zh-CN" altLang="en-US"/>
              <a:t>时，系统进入了充分发展的湍流状态。密度的空间结构非常丰富，从小尺度的条带到较大尺度的激波面相互交织。这正是 </a:t>
            </a:r>
            <a:r>
              <a:rPr lang="en-US" altLang="zh-CN"/>
              <a:t>Orszag-Tang </a:t>
            </a:r>
            <a:r>
              <a:rPr lang="zh-CN" altLang="en-US"/>
              <a:t>涡旋的典型特征。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最值得关注的是这两个诊断结果：上排的散度曲线稳定在 $10^{-14}$ 量级，这是约束输运效果的直接证明。对比之下，如果没有 </a:t>
            </a:r>
            <a:r>
              <a:rPr lang="en-US" altLang="zh-CN"/>
              <a:t>CT </a:t>
            </a:r>
            <a:r>
              <a:rPr lang="zh-CN" altLang="en-US"/>
              <a:t>格式，散度污染可能在几百步之内就让模拟崩溃。</a:t>
            </a:r>
            <a:endParaRPr lang="en-US" altLang="zh-CN"/>
          </a:p>
          <a:p>
            <a:r>
              <a:rPr lang="zh-CN" altLang="en-US"/>
              <a:t>右侧的能量曲线也证明了代码的守恒性。总能量恒定在 0.3492，三种能量形式之间相互转换：开始时动能占主导，随着演化的进行，部分动能转化为</a:t>
            </a:r>
            <a:r>
              <a:rPr lang="zh-CN" altLang="en-US"/>
              <a:t>磁能，最后在湍流耗散下部分转化为内能。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最后做一个小结。该</a:t>
            </a:r>
            <a:r>
              <a:rPr lang="zh-CN" altLang="en-US"/>
              <a:t>项目使用纯 </a:t>
            </a:r>
            <a:r>
              <a:rPr lang="en-US" altLang="zh-CN"/>
              <a:t>Python </a:t>
            </a:r>
            <a:r>
              <a:rPr lang="zh-CN" altLang="en-US"/>
              <a:t>实现了一套完整的二维 </a:t>
            </a:r>
            <a:r>
              <a:rPr lang="en-US" altLang="zh-CN"/>
              <a:t>MHD </a:t>
            </a:r>
            <a:r>
              <a:rPr lang="zh-CN" altLang="en-US"/>
              <a:t>求解器，验证了约束输运格式保持 $\</a:t>
            </a:r>
            <a:r>
              <a:rPr lang="en-US" altLang="zh-CN"/>
              <a:t>nabla \cdot \boldsymbol{B}$ </a:t>
            </a:r>
            <a:r>
              <a:rPr lang="zh-CN" altLang="en-US"/>
              <a:t>到机器精度的能力，成功模拟了 </a:t>
            </a:r>
            <a:r>
              <a:rPr lang="en-US" altLang="zh-CN"/>
              <a:t>Orszag-Tang </a:t>
            </a:r>
            <a:r>
              <a:rPr lang="zh-CN" altLang="en-US"/>
              <a:t>涡旋从平滑初始条件到完全湍流的演化过程。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hyperlink" Target="https://doi.org/10.1063/1.3264103" TargetMode="External"/><Relationship Id="rId2" Type="http://schemas.openxmlformats.org/officeDocument/2006/relationships/tags" Target="../tags/tag1.xml"/><Relationship Id="rId19" Type="http://schemas.openxmlformats.org/officeDocument/2006/relationships/image" Target="../media/image6.svg"/><Relationship Id="rId18" Type="http://schemas.openxmlformats.org/officeDocument/2006/relationships/image" Target="../media/image5.png"/><Relationship Id="rId17" Type="http://schemas.openxmlformats.org/officeDocument/2006/relationships/tags" Target="../tags/tag13.xml"/><Relationship Id="rId16" Type="http://schemas.openxmlformats.org/officeDocument/2006/relationships/image" Target="../media/image4.png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image" Target="../media/image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15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1.png"/><Relationship Id="rId2" Type="http://schemas.openxmlformats.org/officeDocument/2006/relationships/tags" Target="../tags/tag15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Relationship Id="rId3" Type="http://schemas.openxmlformats.org/officeDocument/2006/relationships/image" Target="../media/image30.png"/><Relationship Id="rId2" Type="http://schemas.openxmlformats.org/officeDocument/2006/relationships/tags" Target="../tags/tag19.xml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GIF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8.png"/><Relationship Id="rId13" Type="http://schemas.openxmlformats.org/officeDocument/2006/relationships/image" Target="../media/image37.png"/><Relationship Id="rId12" Type="http://schemas.openxmlformats.org/officeDocument/2006/relationships/tags" Target="../tags/tag33.xml"/><Relationship Id="rId11" Type="http://schemas.openxmlformats.org/officeDocument/2006/relationships/image" Target="../media/image36.png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线连接符 12"/>
          <p:cNvCxnSpPr/>
          <p:nvPr/>
        </p:nvCxnSpPr>
        <p:spPr>
          <a:xfrm flipV="1">
            <a:off x="5076118" y="4580720"/>
            <a:ext cx="0" cy="1224280"/>
          </a:xfrm>
          <a:prstGeom prst="line">
            <a:avLst/>
          </a:prstGeom>
          <a:ln w="38100" cmpd="sng">
            <a:solidFill>
              <a:srgbClr val="2D437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5580216" y="4365005"/>
            <a:ext cx="3074194" cy="1401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35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sz="1800" b="1" dirty="0">
                <a:solidFill>
                  <a:srgbClr val="2D437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第一组</a:t>
            </a:r>
            <a:br>
              <a:rPr lang="zh-CN" sz="1800" b="1" dirty="0">
                <a:solidFill>
                  <a:srgbClr val="2D437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</a:br>
            <a:r>
              <a:rPr lang="zh-CN" altLang="en-US" sz="1800" b="1" dirty="0">
                <a:solidFill>
                  <a:srgbClr val="2D437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汇报人：赵世娟</a:t>
            </a:r>
            <a:endParaRPr lang="en-US" altLang="zh-CN" sz="1800" b="1" dirty="0">
              <a:solidFill>
                <a:srgbClr val="2D437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>
              <a:lnSpc>
                <a:spcPts val="35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2D437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日期：</a:t>
            </a:r>
            <a:r>
              <a:rPr lang="en-US" altLang="zh-CN" sz="1800" b="1" dirty="0">
                <a:solidFill>
                  <a:srgbClr val="2D437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2026.5.12</a:t>
            </a:r>
            <a:endParaRPr lang="zh-CN" altLang="en-US" sz="1800" b="1" dirty="0">
              <a:solidFill>
                <a:srgbClr val="2D437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65442" y="1405454"/>
            <a:ext cx="9258519" cy="2771063"/>
            <a:chOff x="-17" y="1313"/>
            <a:chExt cx="19217" cy="5756"/>
          </a:xfrm>
        </p:grpSpPr>
        <p:sp>
          <p:nvSpPr>
            <p:cNvPr id="8" name="圆角矩形 7"/>
            <p:cNvSpPr/>
            <p:nvPr/>
          </p:nvSpPr>
          <p:spPr>
            <a:xfrm>
              <a:off x="-17" y="1313"/>
              <a:ext cx="19217" cy="5756"/>
            </a:xfrm>
            <a:prstGeom prst="roundRect">
              <a:avLst>
                <a:gd name="adj" fmla="val 0"/>
              </a:avLst>
            </a:prstGeom>
            <a:gradFill>
              <a:gsLst>
                <a:gs pos="13000">
                  <a:srgbClr val="1B3683"/>
                </a:gs>
                <a:gs pos="37000">
                  <a:srgbClr val="2D437F">
                    <a:alpha val="97000"/>
                  </a:srgbClr>
                </a:gs>
                <a:gs pos="0">
                  <a:srgbClr val="1B3683"/>
                </a:gs>
                <a:gs pos="100000">
                  <a:srgbClr val="2D437F">
                    <a:alpha val="39000"/>
                  </a:srgbClr>
                </a:gs>
              </a:gsLst>
              <a:lin ang="132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gradFill>
                  <a:gsLst>
                    <a:gs pos="0">
                      <a:srgbClr val="173F8A"/>
                    </a:gs>
                    <a:gs pos="100000">
                      <a:srgbClr val="173F8A">
                        <a:alpha val="0"/>
                      </a:srgbClr>
                    </a:gs>
                  </a:gsLst>
                  <a:lin ang="0" scaled="0"/>
                </a:gra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48" y="2674"/>
              <a:ext cx="17916" cy="29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4400">
                  <a:solidFill>
                    <a:schemeClr val="bg1"/>
                  </a:solidFill>
                  <a:sym typeface="+mn-ea"/>
                </a:rPr>
                <a:t>Orszag-Tang </a:t>
              </a:r>
              <a:r>
                <a:rPr lang="zh-CN" altLang="en-US" sz="4400">
                  <a:solidFill>
                    <a:schemeClr val="bg1"/>
                  </a:solidFill>
                  <a:sym typeface="+mn-ea"/>
                </a:rPr>
                <a:t>涡旋问题的二维理想 </a:t>
              </a:r>
              <a:r>
                <a:rPr lang="en-US" altLang="zh-CN" sz="4400">
                  <a:solidFill>
                    <a:schemeClr val="bg1"/>
                  </a:solidFill>
                  <a:sym typeface="+mn-ea"/>
                </a:rPr>
                <a:t>MHD </a:t>
              </a:r>
              <a:r>
                <a:rPr lang="zh-CN" altLang="en-US" sz="4400">
                  <a:solidFill>
                    <a:schemeClr val="bg1"/>
                  </a:solidFill>
                  <a:sym typeface="+mn-ea"/>
                </a:rPr>
                <a:t>数值模拟研究</a:t>
              </a:r>
              <a:endPara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HarmonyOS Sans SC Medium" panose="00000600000000000000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-8096" y="5859213"/>
            <a:ext cx="9144000" cy="148850"/>
          </a:xfrm>
          <a:prstGeom prst="rect">
            <a:avLst/>
          </a:prstGeom>
          <a:solidFill>
            <a:srgbClr val="183586"/>
          </a:solidFill>
          <a:ln>
            <a:solidFill>
              <a:srgbClr val="1835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文本框 1"/>
          <p:cNvSpPr txBox="1"/>
          <p:nvPr/>
        </p:nvSpPr>
        <p:spPr>
          <a:xfrm>
            <a:off x="1115695" y="4437380"/>
            <a:ext cx="3543935" cy="1312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赵世娟</a:t>
            </a:r>
            <a:r>
              <a:rPr lang="en-US" altLang="zh-CN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	SA25007037</a:t>
            </a:r>
            <a:br>
              <a:rPr lang="en-US" altLang="zh-CN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</a:br>
            <a:r>
              <a:rPr lang="zh-CN" altLang="en-US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温雨馨</a:t>
            </a:r>
            <a:r>
              <a:rPr lang="en-US" altLang="zh-CN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	SA25007032</a:t>
            </a:r>
            <a:br>
              <a:rPr lang="en-US" altLang="zh-CN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</a:br>
            <a:r>
              <a:rPr lang="zh-CN" altLang="en-US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杨宇锋</a:t>
            </a:r>
            <a:r>
              <a:rPr lang="en-US" altLang="zh-CN" sz="1800" b="1" dirty="0">
                <a:solidFill>
                  <a:srgbClr val="2D437F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	SA25007034</a:t>
            </a:r>
            <a:endParaRPr lang="zh-CN" altLang="en-US" sz="1800" b="1" dirty="0">
              <a:solidFill>
                <a:srgbClr val="2D437F"/>
              </a:solidFill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0" y="6209665"/>
            <a:ext cx="3615690" cy="3028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650"/>
              </a:lnSpc>
            </a:pPr>
            <a:r>
              <a:rPr lang="en-US" altLang="zh-CN" sz="1600" b="0">
                <a:solidFill>
                  <a:schemeClr val="bg2"/>
                </a:solidFill>
                <a:latin typeface="Consolas" panose="020B0609020204030204"/>
                <a:ea typeface="Consolas" panose="020B0609020204030204"/>
              </a:rPr>
              <a:t>Philip Mocz (2023) / </a:t>
            </a:r>
            <a:r>
              <a:rPr lang="zh-CN" altLang="en-US" sz="1600" b="0">
                <a:solidFill>
                  <a:schemeClr val="bg2"/>
                </a:solidFill>
                <a:latin typeface="Consolas" panose="020B0609020204030204"/>
                <a:ea typeface="Consolas" panose="020B0609020204030204"/>
              </a:rPr>
              <a:t>改编与演示</a:t>
            </a:r>
            <a:endParaRPr lang="zh-CN" altLang="en-US" sz="1600" b="0">
              <a:solidFill>
                <a:schemeClr val="bg2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945" y="859790"/>
            <a:ext cx="3046095" cy="3999230"/>
          </a:xfrm>
          <a:prstGeom prst="rect">
            <a:avLst/>
          </a:prstGeom>
        </p:spPr>
      </p:pic>
      <p:sp>
        <p:nvSpPr>
          <p:cNvPr id="33" name="圆角矩形 32"/>
          <p:cNvSpPr/>
          <p:nvPr/>
        </p:nvSpPr>
        <p:spPr>
          <a:xfrm>
            <a:off x="323215" y="5372100"/>
            <a:ext cx="8582025" cy="11525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0">
            <a:off x="0" y="0"/>
            <a:ext cx="9145270" cy="808355"/>
            <a:chOff x="-635" y="-29210"/>
            <a:chExt cx="12213590" cy="783590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4"/>
              <a:ext cx="10938126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研究背景：为什么要研究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MHD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数值模拟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1460" y="1268730"/>
            <a:ext cx="804545" cy="7099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089025" y="11245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等离子体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056005" y="1484630"/>
            <a:ext cx="3344545" cy="843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等离子体广泛存在于宇宙和实验室中，如太阳风、磁层、星际介质和磁约束聚变装置等。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 flipH="1">
            <a:off x="251460" y="2328545"/>
            <a:ext cx="4098925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072515" y="23996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磁场耦合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1039495" y="2767965"/>
            <a:ext cx="3344545" cy="843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流体运动会拉伸、压缩磁场，磁场反过来通过磁压和磁张力影响流体的运动。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10"/>
            </p:custDataLst>
          </p:nvPr>
        </p:nvCxnSpPr>
        <p:spPr>
          <a:xfrm flipH="1">
            <a:off x="234950" y="3675380"/>
            <a:ext cx="4098925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0825" y="2565400"/>
            <a:ext cx="821690" cy="82169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1056005" y="37465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非线性演化</a:t>
            </a:r>
            <a:endParaRPr lang="zh-CN" altLang="en-US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4"/>
            </p:custDataLst>
          </p:nvPr>
        </p:nvSpPr>
        <p:spPr>
          <a:xfrm>
            <a:off x="1022985" y="4114800"/>
            <a:ext cx="3344545" cy="843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简单的初始扰动在磁场与流体的相互作用下，可发展出复杂的波动、压缩和涡旋等非线性结构。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5"/>
            </p:custDataLst>
          </p:nvPr>
        </p:nvCxnSpPr>
        <p:spPr>
          <a:xfrm flipH="1">
            <a:off x="218440" y="5022215"/>
            <a:ext cx="4098925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4950" y="4004945"/>
            <a:ext cx="821690" cy="8001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572000" y="4964430"/>
            <a:ext cx="5972175" cy="274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示意图：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MHD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系统中速度场、磁场线与等离子体结构的耦合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1" name="图片 30" descr="科学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1505" y="5532755"/>
            <a:ext cx="783590" cy="78359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1475105" y="5398135"/>
            <a:ext cx="70250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</a:t>
            </a:r>
            <a:r>
              <a:rPr lang="zh-CN" altLang="en-US" sz="20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模型为研究导电流体与磁场的耦合演化提供了重要工具，是理解等离子体和天体物理现象的重要理论基础。</a:t>
            </a:r>
            <a:endParaRPr lang="zh-CN" altLang="en-US" sz="20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71815" y="980440"/>
            <a:ext cx="846455" cy="397764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000" b="0" i="0">
                <a:solidFill>
                  <a:srgbClr val="1A1A1A"/>
                </a:solidFill>
                <a:latin typeface="Helvetica"/>
                <a:ea typeface="Helvetica"/>
              </a:rPr>
              <a:t>A. Bhattacharjee, Yi-Min Huang, H. Yang, B. Rogers; Fast reconnection in high-Lundquist-number plasmas due to the plasmoid Instability. </a:t>
            </a:r>
            <a:r>
              <a:rPr lang="en-US" altLang="zh-CN" sz="1000" b="0" i="1">
                <a:solidFill>
                  <a:srgbClr val="1A1A1A"/>
                </a:solidFill>
                <a:latin typeface="Helvetica"/>
                <a:ea typeface="Helvetica"/>
              </a:rPr>
              <a:t>Phys. Plasmas</a:t>
            </a:r>
            <a:r>
              <a:rPr lang="en-US" altLang="zh-CN" sz="1000" b="0" i="0">
                <a:solidFill>
                  <a:srgbClr val="1A1A1A"/>
                </a:solidFill>
                <a:latin typeface="Helvetica"/>
                <a:ea typeface="Helvetica"/>
              </a:rPr>
              <a:t> 1 November 2009; 16 (11): 112102. </a:t>
            </a:r>
            <a:r>
              <a:rPr lang="en-US" altLang="zh-CN" sz="1000" b="0" i="0">
                <a:solidFill>
                  <a:srgbClr val="0066CC"/>
                </a:solidFill>
                <a:latin typeface="Helvetica"/>
                <a:ea typeface="Helvetica"/>
                <a:hlinkClick r:id="rId20"/>
              </a:rPr>
              <a:t>https://doi.org/10.1063/1.3264103</a:t>
            </a:r>
            <a:endParaRPr lang="en-US" altLang="zh-CN" sz="1000" b="0" i="0">
              <a:solidFill>
                <a:srgbClr val="0066CC"/>
              </a:solidFill>
              <a:latin typeface="Helvetica"/>
              <a:ea typeface="Helvetica"/>
              <a:hlinkClick r:id="rId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0" y="0"/>
            <a:ext cx="9145270" cy="808355"/>
            <a:chOff x="-635" y="-29210"/>
            <a:chExt cx="12213590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4"/>
              <a:ext cx="10938126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物理模型：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MHD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方程组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547495" y="1628775"/>
            <a:ext cx="2189480" cy="39624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>
                <a:solidFill>
                  <a:schemeClr val="bg1"/>
                </a:solidFill>
              </a:rPr>
              <a:t>MHD</a:t>
            </a:r>
            <a:r>
              <a:rPr lang="zh-CN" altLang="en-US" sz="1800">
                <a:solidFill>
                  <a:schemeClr val="bg1"/>
                </a:solidFill>
              </a:rPr>
              <a:t>方程组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1990" y="2563495"/>
            <a:ext cx="121221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质量守恒：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80" y="2431415"/>
            <a:ext cx="1385570" cy="5549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5480" y="3408045"/>
            <a:ext cx="121221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动量守恒：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80" y="3282950"/>
            <a:ext cx="2854960" cy="5816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5480" y="4290695"/>
            <a:ext cx="121221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能量守恒：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650" y="4146550"/>
            <a:ext cx="3097530" cy="6051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8970" y="5135245"/>
            <a:ext cx="121221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感应方程：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650" y="4939030"/>
            <a:ext cx="1847215" cy="59182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5626735" y="1512570"/>
            <a:ext cx="2698115" cy="46799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>
                <a:solidFill>
                  <a:schemeClr val="bg1"/>
                </a:solidFill>
              </a:rPr>
              <a:t>变量说明</a:t>
            </a:r>
            <a:endParaRPr lang="zh-CN" altLang="en-US" sz="1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942266" y="2204974"/>
                <a:ext cx="73660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𝝆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266" y="2204974"/>
                <a:ext cx="736600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-78" t="-69" r="7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/>
          <p:cNvCxnSpPr/>
          <p:nvPr/>
        </p:nvCxnSpPr>
        <p:spPr>
          <a:xfrm>
            <a:off x="5869940" y="264096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127875" y="2212975"/>
            <a:ext cx="823595" cy="360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密度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6049581" y="2845689"/>
                <a:ext cx="4921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𝒗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581" y="2845689"/>
                <a:ext cx="492125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116" t="-69" r="11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/>
          <p:cNvCxnSpPr/>
          <p:nvPr/>
        </p:nvCxnSpPr>
        <p:spPr>
          <a:xfrm>
            <a:off x="5868035" y="334200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031990" y="2854960"/>
            <a:ext cx="1057275" cy="35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速度矢量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909310" y="3551555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310" y="3551555"/>
                <a:ext cx="815340" cy="32702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连接符 23"/>
          <p:cNvCxnSpPr/>
          <p:nvPr/>
        </p:nvCxnSpPr>
        <p:spPr>
          <a:xfrm>
            <a:off x="5836920" y="398462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092315" y="3533140"/>
            <a:ext cx="1220470" cy="333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总压力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892800" y="4236085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𝑩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0" y="4236085"/>
                <a:ext cx="815340" cy="32702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/>
          <p:cNvCxnSpPr/>
          <p:nvPr/>
        </p:nvCxnSpPr>
        <p:spPr>
          <a:xfrm>
            <a:off x="5820410" y="474408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019925" y="4215765"/>
            <a:ext cx="1017270" cy="353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磁场矢量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5892800" y="4881880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𝑬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0" y="4881880"/>
                <a:ext cx="815340" cy="32702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/>
          <p:cNvCxnSpPr/>
          <p:nvPr/>
        </p:nvCxnSpPr>
        <p:spPr>
          <a:xfrm>
            <a:off x="5820410" y="531812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934200" y="4872355"/>
            <a:ext cx="1220470" cy="333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总能量密度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869940" y="5503545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940" y="5503545"/>
                <a:ext cx="815340" cy="32702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/>
          <p:cNvCxnSpPr/>
          <p:nvPr/>
        </p:nvCxnSpPr>
        <p:spPr>
          <a:xfrm>
            <a:off x="5803900" y="5947410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983730" y="5508625"/>
            <a:ext cx="1053465" cy="332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单位张量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81990" y="5805805"/>
                <a:ext cx="328993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</a:rPr>
                  <a:t>约束条件：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𝛻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𝐵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en-US" altLang="zh-CN" sz="16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90" y="5805805"/>
                <a:ext cx="3289935" cy="33718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" name="图片 58"/>
          <p:cNvPicPr/>
          <p:nvPr/>
        </p:nvPicPr>
        <p:blipFill>
          <a:blip r:embed="rId1"/>
          <a:stretch>
            <a:fillRect/>
          </a:stretch>
        </p:blipFill>
        <p:spPr>
          <a:xfrm>
            <a:off x="251460" y="2204720"/>
            <a:ext cx="5797550" cy="3892550"/>
          </a:xfrm>
          <a:prstGeom prst="rect">
            <a:avLst/>
          </a:prstGeom>
        </p:spPr>
      </p:pic>
      <p:sp>
        <p:nvSpPr>
          <p:cNvPr id="39" name="圆角矩形 38"/>
          <p:cNvSpPr/>
          <p:nvPr/>
        </p:nvSpPr>
        <p:spPr>
          <a:xfrm>
            <a:off x="46355" y="2178685"/>
            <a:ext cx="6092825" cy="42983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noFill/>
            </a:endParaRPr>
          </a:p>
        </p:txBody>
      </p:sp>
      <p:grpSp>
        <p:nvGrpSpPr>
          <p:cNvPr id="9" name="组合 8"/>
          <p:cNvGrpSpPr/>
          <p:nvPr/>
        </p:nvGrpSpPr>
        <p:grpSpPr>
          <a:xfrm rot="0">
            <a:off x="0" y="0"/>
            <a:ext cx="9145270" cy="808355"/>
            <a:chOff x="-635" y="-29210"/>
            <a:chExt cx="12213590" cy="783590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4"/>
              <a:ext cx="10938126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物理模型：</a:t>
              </a:r>
              <a:r>
                <a:rPr 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二维理想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MHD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方程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251460" y="1124585"/>
            <a:ext cx="120650" cy="104140"/>
          </a:xfrm>
          <a:prstGeom prst="ellipse">
            <a:avLst/>
          </a:pr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n>
                <a:solidFill>
                  <a:schemeClr val="tx1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2110" y="1023620"/>
            <a:ext cx="9039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本研究采用二维理想磁流体力学模型，描述导电流体中速度场、压力场与磁场之间的耦合演化。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251460" y="1556385"/>
            <a:ext cx="4100195" cy="3905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>
                <a:solidFill>
                  <a:schemeClr val="bg1"/>
                </a:solidFill>
              </a:rPr>
              <a:t>守恒形式(二维理想</a:t>
            </a:r>
            <a:r>
              <a:rPr lang="en-US" altLang="zh-CN" sz="1800">
                <a:solidFill>
                  <a:schemeClr val="bg1"/>
                </a:solidFill>
              </a:rPr>
              <a:t>MHD</a:t>
            </a:r>
            <a:r>
              <a:rPr lang="zh-CN" altLang="en-US" sz="1800">
                <a:solidFill>
                  <a:schemeClr val="bg1"/>
                </a:solidFill>
              </a:rPr>
              <a:t>方程组)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272530" y="1512570"/>
            <a:ext cx="2698115" cy="46799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>
                <a:solidFill>
                  <a:schemeClr val="bg1"/>
                </a:solidFill>
              </a:rPr>
              <a:t>变量说明</a:t>
            </a:r>
            <a:endParaRPr lang="zh-CN" altLang="en-US" sz="1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6588061" y="2204974"/>
                <a:ext cx="73660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𝝆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061" y="2204974"/>
                <a:ext cx="736600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78" t="-69" r="7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连接符 61"/>
          <p:cNvCxnSpPr/>
          <p:nvPr/>
        </p:nvCxnSpPr>
        <p:spPr>
          <a:xfrm>
            <a:off x="6515735" y="264096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7773670" y="2212975"/>
            <a:ext cx="823595" cy="360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密度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6571551" y="2834259"/>
                <a:ext cx="780415" cy="3822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𝒙</m:t>
                          </m:r>
                        </m:sub>
                      </m:sSub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551" y="2834259"/>
                <a:ext cx="780415" cy="382270"/>
              </a:xfrm>
              <a:prstGeom prst="rect">
                <a:avLst/>
              </a:prstGeom>
              <a:blipFill rotWithShape="1">
                <a:blip r:embed="rId4"/>
                <a:stretch>
                  <a:fillRect l="-73" t="-66" r="73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连接符 64"/>
          <p:cNvCxnSpPr/>
          <p:nvPr/>
        </p:nvCxnSpPr>
        <p:spPr>
          <a:xfrm>
            <a:off x="6499225" y="3413760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7308215" y="2846705"/>
            <a:ext cx="1968500" cy="372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x、y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方向速度分量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6555105" y="3606800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𝑷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05" y="3606800"/>
                <a:ext cx="815340" cy="3270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连接符 67"/>
          <p:cNvCxnSpPr/>
          <p:nvPr/>
        </p:nvCxnSpPr>
        <p:spPr>
          <a:xfrm>
            <a:off x="6482715" y="404304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7596505" y="3597275"/>
            <a:ext cx="1220470" cy="333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气体压力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/>
              <p:cNvSpPr txBox="1"/>
              <p:nvPr/>
            </p:nvSpPr>
            <p:spPr>
              <a:xfrm>
                <a:off x="6538595" y="4236085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𝒙</m:t>
                          </m:r>
                        </m:sub>
                      </m:sSub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00206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0" name="文本框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595" y="4236085"/>
                <a:ext cx="815340" cy="3270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接连接符 70"/>
          <p:cNvCxnSpPr/>
          <p:nvPr/>
        </p:nvCxnSpPr>
        <p:spPr>
          <a:xfrm>
            <a:off x="6466205" y="474408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7324725" y="4207510"/>
            <a:ext cx="1968500" cy="372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x、y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方向磁场分量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6538595" y="4881880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𝑬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595" y="4881880"/>
                <a:ext cx="815340" cy="3270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接连接符 75"/>
          <p:cNvCxnSpPr/>
          <p:nvPr/>
        </p:nvCxnSpPr>
        <p:spPr>
          <a:xfrm>
            <a:off x="6466205" y="5318125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7579995" y="4872355"/>
            <a:ext cx="1220470" cy="333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总能量密度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/>
              <p:cNvSpPr txBox="1"/>
              <p:nvPr/>
            </p:nvSpPr>
            <p:spPr>
              <a:xfrm>
                <a:off x="6372225" y="5503545"/>
                <a:ext cx="815340" cy="3270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206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𝜸</m:t>
                      </m:r>
                    </m:oMath>
                  </m:oMathPara>
                </a14:m>
                <a:endParaRPr lang="en-US" altLang="zh-CN" sz="1800" b="1" i="1">
                  <a:solidFill>
                    <a:srgbClr val="00206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25" y="5503545"/>
                <a:ext cx="815340" cy="32702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连接符 83"/>
          <p:cNvCxnSpPr/>
          <p:nvPr/>
        </p:nvCxnSpPr>
        <p:spPr>
          <a:xfrm>
            <a:off x="6449695" y="5947410"/>
            <a:ext cx="259270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本框 84"/>
              <p:cNvSpPr txBox="1"/>
              <p:nvPr/>
            </p:nvSpPr>
            <p:spPr>
              <a:xfrm>
                <a:off x="6876415" y="5528945"/>
                <a:ext cx="2427605" cy="36449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zh-CN" altLang="en-US" sz="1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比热比(理想气体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206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𝜸</m:t>
                    </m:r>
                  </m:oMath>
                </a14:m>
                <a:r>
                  <a:rPr lang="en-US" altLang="zh-CN" sz="1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=5/3)</a:t>
                </a:r>
                <a:endParaRPr lang="en-US" altLang="zh-CN" sz="160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85" name="文本框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415" y="5528945"/>
                <a:ext cx="2427605" cy="36449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0" y="0"/>
            <a:ext cx="9145270" cy="808355"/>
            <a:chOff x="-635" y="-29210"/>
            <a:chExt cx="12213590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4"/>
              <a:ext cx="10938126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物理模型：</a:t>
              </a:r>
              <a:r>
                <a:rPr 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二维理想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MHD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方程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971550" y="1484630"/>
            <a:ext cx="2698115" cy="467995"/>
          </a:xfrm>
          <a:prstGeom prst="round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物理图像（二维示意）</a:t>
            </a:r>
            <a:endParaRPr lang="zh-CN" altLang="en-US" b="1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639435" y="1484630"/>
            <a:ext cx="2698115" cy="467995"/>
          </a:xfrm>
          <a:prstGeom prst="round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约束条件</a:t>
            </a:r>
            <a:endParaRPr lang="zh-CN" altLang="en-US" b="1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363845" y="2204720"/>
            <a:ext cx="3197860" cy="29552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∇⋅B≈0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95" y="2708910"/>
            <a:ext cx="1961515" cy="7632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639435" y="2420620"/>
            <a:ext cx="1785620" cy="342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磁场散度约束：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35600" y="3572510"/>
            <a:ext cx="3126105" cy="1757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数值上采用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Constrained-</a:t>
            </a:r>
            <a:br>
              <a:rPr lang="en-US" altLang="zh-CN" b="1">
                <a:solidFill>
                  <a:schemeClr val="tx1"/>
                </a:solidFill>
                <a:sym typeface="+mn-ea"/>
              </a:rPr>
            </a:br>
            <a:r>
              <a:rPr lang="en-US" altLang="zh-CN" b="1">
                <a:solidFill>
                  <a:schemeClr val="tx1"/>
                </a:solidFill>
                <a:sym typeface="+mn-ea"/>
              </a:rPr>
              <a:t>Transport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方法，保持：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315" y="4170680"/>
            <a:ext cx="970280" cy="47879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394970" y="5501640"/>
            <a:ext cx="8353425" cy="10750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二维理想</a:t>
            </a:r>
            <a:r>
              <a:rPr lang="en-US" altLang="zh-CN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描述了流体与磁场的强耦合过程:流体运动改变磁场结构，磁场反作用于流体，从而产生复杂的非线性演化。</a:t>
            </a:r>
            <a:endParaRPr lang="zh-CN" altLang="en-US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" y="2420620"/>
            <a:ext cx="5126990" cy="2545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圆角矩形 2"/>
          <p:cNvSpPr/>
          <p:nvPr/>
        </p:nvSpPr>
        <p:spPr>
          <a:xfrm>
            <a:off x="539750" y="908685"/>
            <a:ext cx="7992745" cy="648335"/>
          </a:xfrm>
          <a:prstGeom prst="roundRect">
            <a:avLst/>
          </a:prstGeom>
          <a:solidFill>
            <a:srgbClr val="EEF2FD"/>
          </a:solidFill>
          <a:ln>
            <a:solidFill>
              <a:srgbClr val="EDF2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数值方法：有限体积法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+Constrained Transport</a:t>
              </a:r>
              <a:endPara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54355" y="981075"/>
            <a:ext cx="803529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采用有限体积法求解二维理想 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 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方程组，并结合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Constrained Transport (CT) 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方法保持磁场散度为零。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850" y="2210117"/>
            <a:ext cx="5080000" cy="129159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1800"/>
              </a:lnSpc>
              <a:spcBef>
                <a:spcPts val="1900"/>
              </a:spcBef>
              <a:spcAft>
                <a:spcPts val="900"/>
              </a:spcAft>
            </a:pPr>
            <a:r>
              <a:rPr lang="en-US" altLang="zh-CN" sz="1800" b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800" b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有限体积法</a:t>
            </a:r>
            <a:endParaRPr lang="zh-CN" altLang="en-US" sz="1800" b="1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把计算区域切成一个个小方格，每个格子是一个控制体。对 </a:t>
            </a:r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 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守恒方程在每个格子上积分，通量进出的差值，决定了格子内守恒量（质量、动量、能量）的变化。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3215" y="4437380"/>
            <a:ext cx="5080000" cy="1282700"/>
            <a:chOff x="510" y="5717"/>
            <a:chExt cx="8000" cy="2020"/>
          </a:xfrm>
        </p:grpSpPr>
        <p:sp>
          <p:nvSpPr>
            <p:cNvPr id="6" name="文本框 5"/>
            <p:cNvSpPr txBox="1"/>
            <p:nvPr/>
          </p:nvSpPr>
          <p:spPr>
            <a:xfrm>
              <a:off x="510" y="6315"/>
              <a:ext cx="7886" cy="14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110000"/>
                </a:lnSpc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在每个时间步，利用 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 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方向通量中的 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By​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y 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方向通量中的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Bx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，构造节点上的电场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Ez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，再通过离散旋度更新面心磁场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bx,by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，从而在离散意义上严格保证 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∇⋅B=0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10" y="5717"/>
              <a:ext cx="8000" cy="507"/>
            </a:xfrm>
            <a:prstGeom prst="rect">
              <a:avLst/>
            </a:prstGeom>
          </p:spPr>
          <p:txBody>
            <a:bodyPr>
              <a:spAutoFit/>
            </a:bodyPr>
            <a:p>
              <a:pPr marL="0" indent="0">
                <a:lnSpc>
                  <a:spcPts val="1800"/>
                </a:lnSpc>
                <a:spcBef>
                  <a:spcPts val="1900"/>
                </a:spcBef>
                <a:spcAft>
                  <a:spcPts val="900"/>
                </a:spcAft>
              </a:pPr>
              <a:r>
                <a:rPr lang="en-US" altLang="zh-CN" sz="1800" b="1">
                  <a:solidFill>
                    <a:srgbClr val="0F111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Constrained Transport (CT) </a:t>
              </a:r>
              <a:r>
                <a:rPr lang="zh-CN" altLang="en-US" sz="1800" b="1">
                  <a:solidFill>
                    <a:srgbClr val="0F111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磁场更新</a:t>
              </a:r>
              <a:endParaRPr lang="zh-CN" altLang="en-US" sz="1800" b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403850" y="1988820"/>
            <a:ext cx="3644265" cy="4768850"/>
            <a:chOff x="8721" y="2225"/>
            <a:chExt cx="5628" cy="7510"/>
          </a:xfrm>
        </p:grpSpPr>
        <p:sp>
          <p:nvSpPr>
            <p:cNvPr id="11" name="矩形 10"/>
            <p:cNvSpPr/>
            <p:nvPr/>
          </p:nvSpPr>
          <p:spPr>
            <a:xfrm>
              <a:off x="8721" y="2225"/>
              <a:ext cx="5628" cy="7510"/>
            </a:xfrm>
            <a:prstGeom prst="rect">
              <a:avLst/>
            </a:prstGeom>
            <a:noFill/>
            <a:ln w="28575">
              <a:solidFill>
                <a:srgbClr val="052564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284" y="2472"/>
              <a:ext cx="4320" cy="617"/>
            </a:xfrm>
            <a:prstGeom prst="rect">
              <a:avLst/>
            </a:prstGeom>
            <a:solidFill>
              <a:srgbClr val="A2B1D2"/>
            </a:solidFill>
            <a:ln>
              <a:solidFill>
                <a:srgbClr val="BBCAE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计算梯度并进行斜率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限制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9797" y="3519"/>
              <a:ext cx="3428" cy="565"/>
            </a:xfrm>
            <a:prstGeom prst="rect">
              <a:avLst/>
            </a:prstGeom>
            <a:solidFill>
              <a:srgbClr val="A2B1D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空间重构到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单元面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629" y="4496"/>
              <a:ext cx="3975" cy="633"/>
            </a:xfrm>
            <a:prstGeom prst="rect">
              <a:avLst/>
            </a:prstGeom>
            <a:solidFill>
              <a:srgbClr val="A2B1D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计算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Rusanov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数值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通量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388" y="5559"/>
              <a:ext cx="2384" cy="651"/>
            </a:xfrm>
            <a:prstGeom prst="rect">
              <a:avLst/>
            </a:prstGeom>
            <a:solidFill>
              <a:srgbClr val="A2B1D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更新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守恒量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9284" y="6638"/>
              <a:ext cx="4686" cy="617"/>
            </a:xfrm>
            <a:prstGeom prst="rect">
              <a:avLst/>
            </a:prstGeom>
            <a:solidFill>
              <a:srgbClr val="A2B1D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CT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更新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bx,by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9582" y="7685"/>
              <a:ext cx="4237" cy="617"/>
            </a:xfrm>
            <a:prstGeom prst="rect">
              <a:avLst/>
            </a:prstGeom>
            <a:solidFill>
              <a:srgbClr val="A2B1D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由守恒量恢复原始量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145" y="8739"/>
              <a:ext cx="4870" cy="548"/>
            </a:xfrm>
            <a:prstGeom prst="rect">
              <a:avLst/>
            </a:prstGeom>
            <a:solidFill>
              <a:srgbClr val="A2B1D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计算时间步长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Δt (CFL 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条件)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下箭头 20"/>
            <p:cNvSpPr/>
            <p:nvPr/>
          </p:nvSpPr>
          <p:spPr>
            <a:xfrm>
              <a:off x="11356" y="3100"/>
              <a:ext cx="309" cy="418"/>
            </a:xfrm>
            <a:prstGeom prst="downArrow">
              <a:avLst/>
            </a:prstGeom>
            <a:noFill/>
            <a:ln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下箭头 21"/>
            <p:cNvSpPr/>
            <p:nvPr/>
          </p:nvSpPr>
          <p:spPr>
            <a:xfrm>
              <a:off x="11356" y="4107"/>
              <a:ext cx="309" cy="383"/>
            </a:xfrm>
            <a:prstGeom prst="downArrow">
              <a:avLst/>
            </a:prstGeom>
            <a:noFill/>
            <a:ln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下箭头 22"/>
            <p:cNvSpPr/>
            <p:nvPr/>
          </p:nvSpPr>
          <p:spPr>
            <a:xfrm>
              <a:off x="11355" y="5135"/>
              <a:ext cx="310" cy="418"/>
            </a:xfrm>
            <a:prstGeom prst="downArrow">
              <a:avLst/>
            </a:prstGeom>
            <a:noFill/>
            <a:ln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下箭头 25"/>
            <p:cNvSpPr/>
            <p:nvPr/>
          </p:nvSpPr>
          <p:spPr>
            <a:xfrm>
              <a:off x="11356" y="6216"/>
              <a:ext cx="309" cy="418"/>
            </a:xfrm>
            <a:prstGeom prst="downArrow">
              <a:avLst/>
            </a:prstGeom>
            <a:noFill/>
            <a:ln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下箭头 26"/>
            <p:cNvSpPr/>
            <p:nvPr/>
          </p:nvSpPr>
          <p:spPr>
            <a:xfrm>
              <a:off x="11356" y="7260"/>
              <a:ext cx="309" cy="418"/>
            </a:xfrm>
            <a:prstGeom prst="downArrow">
              <a:avLst/>
            </a:prstGeom>
            <a:noFill/>
            <a:ln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下箭头 27"/>
            <p:cNvSpPr/>
            <p:nvPr/>
          </p:nvSpPr>
          <p:spPr>
            <a:xfrm>
              <a:off x="11355" y="8309"/>
              <a:ext cx="309" cy="418"/>
            </a:xfrm>
            <a:prstGeom prst="downArrow">
              <a:avLst/>
            </a:prstGeom>
            <a:noFill/>
            <a:ln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5403850" y="1616075"/>
            <a:ext cx="2907665" cy="321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800"/>
              </a:lnSpc>
              <a:spcBef>
                <a:spcPts val="1900"/>
              </a:spcBef>
              <a:spcAft>
                <a:spcPts val="900"/>
              </a:spcAft>
            </a:pPr>
            <a:r>
              <a:rPr lang="zh-CN" altLang="en-US" sz="1800" b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算法流程（一个时间步）</a:t>
            </a:r>
            <a:endParaRPr lang="zh-CN" altLang="en-US" sz="1800" b="1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3644900"/>
            <a:ext cx="4806315" cy="636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数值方法：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Constrained Transport</a:t>
              </a:r>
              <a:endPara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10625"/>
          <a:stretch>
            <a:fillRect/>
          </a:stretch>
        </p:blipFill>
        <p:spPr>
          <a:xfrm>
            <a:off x="0" y="980440"/>
            <a:ext cx="9069070" cy="5680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415" y="1268730"/>
            <a:ext cx="4165600" cy="398970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初始条件：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Orszag-Tang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涡旋算例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4970" y="903605"/>
            <a:ext cx="8740140" cy="414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本算例在二维周期区域内设置规则的速度场和磁场，用于观察理想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MHD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系统的非线性演化。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83260" y="1628775"/>
            <a:ext cx="2294255" cy="342265"/>
          </a:xfrm>
          <a:prstGeom prst="round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初始物理量设置</a:t>
            </a:r>
            <a:endParaRPr lang="zh-CN" altLang="en-US" b="1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78815" y="2060575"/>
            <a:ext cx="2328545" cy="14795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60" y="2091690"/>
            <a:ext cx="1403350" cy="142557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38505" y="3860800"/>
            <a:ext cx="2294255" cy="342265"/>
          </a:xfrm>
          <a:prstGeom prst="round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磁场构造方式</a:t>
            </a:r>
            <a:endParaRPr lang="zh-CN" altLang="en-US" b="1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4970" y="4340225"/>
            <a:ext cx="2912745" cy="21164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6425" y="4436745"/>
            <a:ext cx="242062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先给定磁矢势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再由旋度计算磁场: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" y="4984750"/>
            <a:ext cx="1972310" cy="6457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06425" y="5732780"/>
                <a:ext cx="2329815" cy="41592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zh-CN" altLang="en-US" sz="16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利于满足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𝜵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∙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𝑩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𝟎</m:t>
                    </m:r>
                  </m:oMath>
                </a14:m>
                <a:r>
                  <a:rPr lang="zh-CN" altLang="en-US" sz="1600" b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的磁场散度约束</a:t>
                </a:r>
                <a:endParaRPr lang="zh-CN" altLang="en-US" sz="1600" b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5" y="5732780"/>
                <a:ext cx="2329815" cy="415925"/>
              </a:xfrm>
              <a:prstGeom prst="rect">
                <a:avLst/>
              </a:prstGeom>
              <a:blipFill rotWithShape="1">
                <a:blip r:embed="rId5"/>
                <a:stretch>
                  <a:fillRect b="-28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/>
          <p:cNvSpPr/>
          <p:nvPr/>
        </p:nvSpPr>
        <p:spPr>
          <a:xfrm>
            <a:off x="3308350" y="6165215"/>
            <a:ext cx="5688965" cy="5829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Orszag-Tang</a:t>
            </a:r>
            <a:r>
              <a:rPr lang="zh-CN" altLang="en-US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涡旋</a:t>
            </a:r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从简单正弦初始场出发，可快速形成复杂的压缩、波动和涡旋结构</a:t>
            </a:r>
            <a:endParaRPr lang="zh-CN" altLang="en-US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5230" y="5229225"/>
            <a:ext cx="48393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Orszag-Tang MHD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涡旋中磁压与涡度的演化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04870" y="5516880"/>
            <a:ext cx="5740400" cy="38925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200"/>
              <a:t>KIM J. Data Assimilation for Orszag-Tang Magnetohydrodynamic Vortex Problem [R]. Princeton: Department of Mechanical and Aerospace Engineering, Princeton University</a:t>
            </a:r>
            <a:endParaRPr lang="en-US" altLang="zh-C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模拟结果：</a:t>
              </a:r>
              <a:r>
                <a:rPr 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密度场的非线性演化</a:t>
              </a:r>
              <a:endParaRPr 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constrainedtrans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585" y="981075"/>
            <a:ext cx="5311775" cy="430847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261620" y="5605145"/>
            <a:ext cx="8302625" cy="9601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规则初始场在</a:t>
            </a:r>
            <a:r>
              <a:rPr lang="en-US" altLang="zh-CN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</a:t>
            </a:r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非线性耦合作用下形成复杂密度结构，体现了磁场</a:t>
            </a:r>
            <a:r>
              <a:rPr lang="en-US" altLang="zh-CN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流体相互作用的特征。</a:t>
            </a:r>
            <a:endParaRPr lang="zh-CN" altLang="en-US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Figure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1209675"/>
            <a:ext cx="8912225" cy="443801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2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模拟结果：</a:t>
              </a:r>
              <a:r>
                <a:rPr 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密度场的非线性演化</a:t>
              </a:r>
              <a:endParaRPr 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261620" y="5605145"/>
            <a:ext cx="8302625" cy="9601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规则初始场在</a:t>
            </a:r>
            <a:r>
              <a:rPr lang="en-US" altLang="zh-CN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</a:t>
            </a:r>
            <a:r>
              <a:rPr lang="zh-CN" altLang="en-US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非线性耦合作用下形成复杂密度结构，体现了磁场</a:t>
            </a:r>
            <a:r>
              <a:rPr lang="en-US" altLang="zh-CN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流体相互作用的特征。</a:t>
            </a:r>
            <a:endParaRPr lang="zh-CN" altLang="en-US" sz="18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模拟结果：涡旋诊断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量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908685"/>
            <a:ext cx="8656320" cy="5952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0" y="0"/>
            <a:ext cx="9191625" cy="808355"/>
            <a:chOff x="-635" y="-29210"/>
            <a:chExt cx="12275497" cy="783590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-635" y="-29210"/>
              <a:ext cx="12213590" cy="783590"/>
            </a:xfrm>
            <a:prstGeom prst="rect">
              <a:avLst/>
            </a:prstGeom>
            <a:solidFill>
              <a:srgbClr val="1A3881"/>
            </a:solidFill>
            <a:ln>
              <a:solidFill>
                <a:srgbClr val="1A388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112" y="109903"/>
              <a:ext cx="12078750" cy="50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 \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结果分析：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MHD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非线性结构特征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261620" y="5501005"/>
            <a:ext cx="8302625" cy="10642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结果表明，</a:t>
            </a:r>
            <a:r>
              <a:rPr lang="en-US" altLang="zh-CN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Orszag-Tang</a:t>
            </a:r>
            <a:r>
              <a:rPr lang="zh-CN" altLang="en-US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涡旋能够快速发展出复杂的</a:t>
            </a:r>
            <a:r>
              <a:rPr lang="en-US" altLang="zh-CN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MHD</a:t>
            </a:r>
            <a:r>
              <a:rPr lang="zh-CN" altLang="en-US" sz="18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非线性结构是检验数值格式稳定性和物理一致性的经典算例。</a:t>
            </a:r>
            <a:endParaRPr lang="zh-CN" altLang="en-US" sz="18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23250" y="1268870"/>
            <a:ext cx="40493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密度非均匀增强：</a:t>
            </a:r>
            <a:endParaRPr lang="zh-CN" altLang="en-US" sz="2000" b="1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96055" y="1700804"/>
            <a:ext cx="40353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局部高密度区和低密度区同时出现，反映流体压缩与稀疏过程。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连接符 61"/>
          <p:cNvCxnSpPr/>
          <p:nvPr>
            <p:custDataLst>
              <p:tags r:id="rId4"/>
            </p:custDataLst>
          </p:nvPr>
        </p:nvCxnSpPr>
        <p:spPr>
          <a:xfrm>
            <a:off x="319440" y="2378567"/>
            <a:ext cx="42090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19423" y="2513128"/>
            <a:ext cx="40493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斜向条带结构：</a:t>
            </a:r>
            <a:endParaRPr lang="zh-CN" altLang="en-US" sz="2000" b="1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96038" y="2912042"/>
            <a:ext cx="40493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速度场与磁场耦合产生复杂波动，形成明显的斜向压缩带。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304818" y="3709820"/>
            <a:ext cx="42090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90195" y="3860943"/>
            <a:ext cx="40493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磁散度约束检验</a:t>
            </a:r>
            <a:r>
              <a:rPr lang="zh-CN" altLang="en-US" sz="2000" b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64905" y="4221123"/>
                <a:ext cx="4049365" cy="64516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</a:rPr>
                  <a:t>程序输出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𝑚𝑒𝑎𝑛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|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𝛻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|，</m:t>
                    </m:r>
                  </m:oMath>
                </a14:m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</a:rPr>
                  <a:t>用于判断磁场更新是否保持物理约束。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464905" y="4221123"/>
                <a:ext cx="4049365" cy="645160"/>
              </a:xfrm>
              <a:prstGeom prst="rect">
                <a:avLst/>
              </a:prstGeom>
              <a:blipFill rotWithShape="1">
                <a:blip r:embed="rId11"/>
                <a:stretch>
                  <a:fillRect l="-2" t="-43" r="1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/>
          <p:cNvCxnSpPr/>
          <p:nvPr>
            <p:custDataLst>
              <p:tags r:id="rId12"/>
            </p:custDataLst>
          </p:nvPr>
        </p:nvCxnSpPr>
        <p:spPr>
          <a:xfrm>
            <a:off x="290195" y="5012550"/>
            <a:ext cx="42090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6100" y="1667510"/>
            <a:ext cx="4754880" cy="33388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932045" y="1268730"/>
                <a:ext cx="457200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6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Density field at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𝒕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𝟎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.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𝟓</m:t>
                    </m:r>
                  </m:oMath>
                </a14:m>
                <a:endParaRPr lang="en-US" alt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5" y="1268730"/>
                <a:ext cx="4572000" cy="33718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3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4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5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6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7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8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9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10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11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12.xml><?xml version="1.0" encoding="utf-8"?>
<p:tagLst xmlns:p="http://schemas.openxmlformats.org/presentationml/2006/main">
  <p:tag name="KSO_WM_DIAGRAM_VIRTUALLY_FRAME" val="{&quot;height&quot;:306.9,&quot;left&quot;:17.2,&quot;top&quot;:88.55,&quot;width&quot;:329.3}"/>
</p:tagLst>
</file>

<file path=ppt/tags/tag13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1812956976&quot;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25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26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27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28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29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30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31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32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33.xml><?xml version="1.0" encoding="utf-8"?>
<p:tagLst xmlns:p="http://schemas.openxmlformats.org/presentationml/2006/main">
  <p:tag name="KSO_WM_DIAGRAM_VIRTUALLY_FRAME" val="{&quot;height&quot;:312.25,&quot;left&quot;:22.85,&quot;top&quot;:90.45,&quot;width&quot;:335.1}"/>
</p:tagLst>
</file>

<file path=ppt/tags/tag34.xml><?xml version="1.0" encoding="utf-8"?>
<p:tagLst xmlns:p="http://schemas.openxmlformats.org/presentationml/2006/main">
  <p:tag name="resource_record_key" val="{&quot;10&quot;:[50063356]}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2091</Words>
  <Application>WPS 演示</Application>
  <PresentationFormat/>
  <Paragraphs>190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Times New Roman</vt:lpstr>
      <vt:lpstr>HarmonyOS Sans SC Medium</vt:lpstr>
      <vt:lpstr>Helvetica</vt:lpstr>
      <vt:lpstr>Cambria Math</vt:lpstr>
      <vt:lpstr>MS Mincho</vt:lpstr>
      <vt:lpstr>LaTeX</vt:lpstr>
      <vt:lpstr>Arial Unicode MS</vt:lpstr>
      <vt:lpstr>Calibri</vt:lpstr>
      <vt:lpstr>MS PGothic</vt:lpstr>
      <vt:lpstr>Consolas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USTC</dc:creator>
  <cp:lastModifiedBy>赵世娟</cp:lastModifiedBy>
  <cp:revision>74</cp:revision>
  <dcterms:created xsi:type="dcterms:W3CDTF">2026-05-11T10:55:00Z</dcterms:created>
  <dcterms:modified xsi:type="dcterms:W3CDTF">2026-05-12T05:15:43Z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3F558D970CF34EA3860FA4DFB5EBCBC0_13</vt:lpwstr>
  </property>
</Properties>
</file>